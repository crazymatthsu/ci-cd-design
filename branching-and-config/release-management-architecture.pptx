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 today: agree the target architecture for branching, config management, and deployment — and the migration order. Everything here is driven by one problem: the cherry-picking pain.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Root cause framing: our branches conflate code, environment, and config. Separate those three and cherry-picking disappears structurally rather than by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QA makes build-once MORE important: manual regression is so expensive we can only afford it once per release — so the signed-off artifact must be exactly what ships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strategy globally, all regions and desks. Compare with the git-flow and trunk-based PNGs in the vault. The single remaining cherry-pick (hotfix to live release) also disappears later — see the human-QA variant.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left column is where today’s pain comes from. Every item on the right is a process change, not a tooling purchase.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Keeps one integration point and shared libraries at compile time, while giving each desk an independent release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else in the deck stands unchanged under this variant — build-once actually matters more, since manual regression can only be afforded once per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answers the dev-1/dev-2 question: yes — formalized. The manifest’s git history is the audit record of what was in or out of every 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Ephemeral envs attack the problem from the other end: instead of making back-out fast, they make it rare. A strong concrete payoff of the containerization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a Prod DB endpoint no longer touches the Java repo at all — no code release needed. Git history of this repo is the firm’s complete config change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directory is the missing piece that makes trunk-only config workable: promotion, rollback, and audit all become one-line Git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job is the contract: as long as it holds, swapping tarball→image or Ansible→Argo CD changes nothing upstream.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Jenkins stays: demote it to executing what the manifest repo declares — then swapping it out later is painless.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Jib builds images without a Dockerfile or Docker daemon on CI — low-risk to start now, building the muscle before anything depends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sequence and the discussion questions. Step 1 alone removes most of the cherry-picking pain before any tooling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93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394960"/>
            <a:ext cx="10515600" cy="0"/>
          </a:xfrm>
          <a:prstGeom prst="line">
            <a:avLst/>
          </a:prstGeom>
          <a:ln w="31750">
            <a:solidFill>
              <a:srgbClr val="C9DC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202436" y="5317236"/>
            <a:ext cx="155448" cy="155448"/>
          </a:xfrm>
          <a:prstGeom prst="ellipse">
            <a:avLst/>
          </a:prstGeom>
          <a:solidFill>
            <a:srgbClr val="C9DCE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99716" y="5317236"/>
            <a:ext cx="155448" cy="155448"/>
          </a:xfrm>
          <a:prstGeom prst="ellipse">
            <a:avLst/>
          </a:prstGeom>
          <a:solidFill>
            <a:srgbClr val="C9DCE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396996" y="5317236"/>
            <a:ext cx="155448" cy="155448"/>
          </a:xfrm>
          <a:prstGeom prst="ellipse">
            <a:avLst/>
          </a:prstGeom>
          <a:solidFill>
            <a:srgbClr val="C9DCE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74436" y="5317236"/>
            <a:ext cx="155448" cy="155448"/>
          </a:xfrm>
          <a:prstGeom prst="ellipse">
            <a:avLst/>
          </a:prstGeom>
          <a:solidFill>
            <a:srgbClr val="C9DCE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60436" y="5317236"/>
            <a:ext cx="155448" cy="155448"/>
          </a:xfrm>
          <a:prstGeom prst="ellipse">
            <a:avLst/>
          </a:prstGeom>
          <a:solidFill>
            <a:srgbClr val="C9DCE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06355" y="5317236"/>
            <a:ext cx="155448" cy="155448"/>
          </a:xfrm>
          <a:prstGeom prst="ellipse">
            <a:avLst/>
          </a:prstGeom>
          <a:solidFill>
            <a:srgbClr val="C9DCE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95076" y="5317236"/>
            <a:ext cx="155448" cy="155448"/>
          </a:xfrm>
          <a:prstGeom prst="ellipse">
            <a:avLst/>
          </a:prstGeom>
          <a:solidFill>
            <a:srgbClr val="C9DCE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3474720" y="4709160"/>
            <a:ext cx="640080" cy="685800"/>
          </a:xfrm>
          <a:prstGeom prst="line">
            <a:avLst/>
          </a:prstGeom>
          <a:ln w="31750">
            <a:solidFill>
              <a:srgbClr val="02C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4709160"/>
            <a:ext cx="2834640" cy="0"/>
          </a:xfrm>
          <a:prstGeom prst="line">
            <a:avLst/>
          </a:prstGeom>
          <a:ln w="31750">
            <a:solidFill>
              <a:srgbClr val="02C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677156" y="4631436"/>
            <a:ext cx="155448" cy="155448"/>
          </a:xfrm>
          <a:prstGeom prst="ellipse">
            <a:avLst/>
          </a:prstGeom>
          <a:solidFill>
            <a:srgbClr val="02C39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74436" y="4631436"/>
            <a:ext cx="155448" cy="155448"/>
          </a:xfrm>
          <a:prstGeom prst="ellipse">
            <a:avLst/>
          </a:prstGeom>
          <a:solidFill>
            <a:srgbClr val="02C39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88836" y="4631436"/>
            <a:ext cx="155448" cy="155448"/>
          </a:xfrm>
          <a:prstGeom prst="ellipse">
            <a:avLst/>
          </a:prstGeom>
          <a:solidFill>
            <a:srgbClr val="02C39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949440" y="4709160"/>
            <a:ext cx="1188720" cy="685800"/>
          </a:xfrm>
          <a:prstGeom prst="line">
            <a:avLst/>
          </a:prstGeom>
          <a:ln w="31750">
            <a:solidFill>
              <a:srgbClr val="02C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38160" y="5394960"/>
            <a:ext cx="640080" cy="566928"/>
          </a:xfrm>
          <a:prstGeom prst="line">
            <a:avLst/>
          </a:prstGeom>
          <a:ln w="31750">
            <a:solidFill>
              <a:srgbClr val="0A8F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5961888"/>
            <a:ext cx="1828800" cy="0"/>
          </a:xfrm>
          <a:prstGeom prst="line">
            <a:avLst/>
          </a:prstGeom>
          <a:ln w="31750">
            <a:solidFill>
              <a:srgbClr val="0A8F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340596" y="5884164"/>
            <a:ext cx="155448" cy="155448"/>
          </a:xfrm>
          <a:prstGeom prst="ellipse">
            <a:avLst/>
          </a:prstGeom>
          <a:solidFill>
            <a:srgbClr val="0A8F8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46436" y="5884164"/>
            <a:ext cx="155448" cy="155448"/>
          </a:xfrm>
          <a:prstGeom prst="ellipse">
            <a:avLst/>
          </a:prstGeom>
          <a:solidFill>
            <a:srgbClr val="0A8F8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spc="350">
                <a:solidFill>
                  <a:srgbClr val="02C39A"/>
                </a:solidFill>
                <a:latin typeface="Arial"/>
              </a:rPr>
              <a:t>PLATFORM ENGINEERING  •  TEAM DISCUSSION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82880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Release Management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88920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C9DCEF"/>
                </a:solidFill>
                <a:latin typeface="Arial"/>
              </a:rPr>
              <a:t>Git branching &amp; configuration management — future state for our global Java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401568"/>
            <a:ext cx="9692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8BF"/>
                </a:solidFill>
                <a:latin typeface="Arial"/>
              </a:rPr>
              <a:t>US · Hong Kong · London        Equities · Fixed Income · Swaps        QA · UAT · Prod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Cherry-picking is a symptom, not the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24313D"/>
                </a:solidFill>
                <a:latin typeface="Arial"/>
              </a:rPr>
              <a:t>Today, one Git branch encodes three unrelated dimensions at once: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29968"/>
            <a:ext cx="420624" cy="420624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1993392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6293C"/>
                </a:solidFill>
                <a:latin typeface="Arial"/>
              </a:rPr>
              <a:t>What the code is</a:t>
            </a:r>
            <a:r>
              <a:rPr sz="1350" b="0" i="0">
                <a:solidFill>
                  <a:srgbClr val="5C6B79"/>
                </a:solidFill>
                <a:latin typeface="Arial"/>
              </a:rPr>
              <a:t>  —  a version of business logic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88336"/>
            <a:ext cx="420624" cy="420624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70048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65176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6293C"/>
                </a:solidFill>
                <a:latin typeface="Arial"/>
              </a:rPr>
              <a:t>Where it runs</a:t>
            </a:r>
            <a:r>
              <a:rPr sz="1350" b="0" i="0">
                <a:solidFill>
                  <a:srgbClr val="5C6B79"/>
                </a:solidFill>
                <a:latin typeface="Arial"/>
              </a:rPr>
              <a:t>  —  QA vs UAT vs Prod · US vs HK vs London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346704"/>
            <a:ext cx="420624" cy="420624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28416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31012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6293C"/>
                </a:solidFill>
                <a:latin typeface="Arial"/>
              </a:rPr>
              <a:t>How it’s configured</a:t>
            </a:r>
            <a:r>
              <a:rPr sz="1350" b="0" i="0">
                <a:solidFill>
                  <a:srgbClr val="5C6B79"/>
                </a:solidFill>
                <a:latin typeface="Arial"/>
              </a:rPr>
              <a:t>  —  environment- &amp; region-specific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4313D"/>
                </a:solidFill>
                <a:latin typeface="Arial"/>
              </a:rPr>
              <a:t>When environments live on branches, every fix must be manually replayed — cherry-picked — onto every branch. The fix: give each dimension its own home.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463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8F82"/>
                </a:solidFill>
                <a:latin typeface="Arial"/>
              </a:rPr>
              <a:t>Where each dimension should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74520"/>
            <a:ext cx="5486400" cy="822960"/>
          </a:xfrm>
          <a:prstGeom prst="roundRect">
            <a:avLst>
              <a:gd name="adj" fmla="val 1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91072" y="2093976"/>
            <a:ext cx="384048" cy="384048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764" y="2197668"/>
            <a:ext cx="176662" cy="17666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39712" y="1965960"/>
            <a:ext cx="4572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6293C"/>
                </a:solidFill>
                <a:latin typeface="Arial"/>
              </a:rPr>
              <a:t>Code version</a:t>
            </a:r>
          </a:p>
          <a:p>
            <a:pPr algn="l"/>
            <a:r>
              <a:rPr sz="1200" b="0" i="0">
                <a:solidFill>
                  <a:srgbClr val="24313D"/>
                </a:solidFill>
                <a:latin typeface="Arial"/>
              </a:rPr>
              <a:t>Git history + an immutable versioned artifact in Artifactory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807208"/>
            <a:ext cx="5486400" cy="822960"/>
          </a:xfrm>
          <a:prstGeom prst="roundRect">
            <a:avLst>
              <a:gd name="adj" fmla="val 1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91072" y="3026664"/>
            <a:ext cx="384048" cy="384048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764" y="3130356"/>
            <a:ext cx="176662" cy="17666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39712" y="2898648"/>
            <a:ext cx="4572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6293C"/>
                </a:solidFill>
                <a:latin typeface="Arial"/>
              </a:rPr>
              <a:t>Environment / region</a:t>
            </a:r>
          </a:p>
          <a:p>
            <a:pPr algn="l"/>
            <a:r>
              <a:rPr sz="1200" b="0" i="0">
                <a:solidFill>
                  <a:srgbClr val="24313D"/>
                </a:solidFill>
                <a:latin typeface="Arial"/>
              </a:rPr>
              <a:t>Directories + deployment manifests — never branches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39896"/>
            <a:ext cx="5486400" cy="822960"/>
          </a:xfrm>
          <a:prstGeom prst="roundRect">
            <a:avLst>
              <a:gd name="adj" fmla="val 1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91072" y="3959352"/>
            <a:ext cx="384048" cy="384048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764" y="4063044"/>
            <a:ext cx="176662" cy="1766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39712" y="3831335"/>
            <a:ext cx="45720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6293C"/>
                </a:solidFill>
                <a:latin typeface="Arial"/>
              </a:rPr>
              <a:t>Configuration values</a:t>
            </a:r>
          </a:p>
          <a:p>
            <a:pPr algn="l"/>
            <a:r>
              <a:rPr sz="1200" b="0" i="0">
                <a:solidFill>
                  <a:srgbClr val="24313D"/>
                </a:solidFill>
                <a:latin typeface="Arial"/>
              </a:rPr>
              <a:t>Trunk-only config repo with layered overrides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38928"/>
            <a:ext cx="11094415" cy="777240"/>
          </a:xfrm>
          <a:prstGeom prst="roundRect">
            <a:avLst>
              <a:gd name="adj" fmla="val 1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9808" y="5335524"/>
            <a:ext cx="384048" cy="384048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00" y="5439216"/>
            <a:ext cx="176662" cy="1766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25880" y="5184648"/>
            <a:ext cx="100885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A8F82"/>
                </a:solidFill>
                <a:latin typeface="Arial"/>
              </a:rPr>
              <a:t>Golden rule:  </a:t>
            </a:r>
            <a:r>
              <a:rPr sz="1500" b="0" i="1">
                <a:solidFill>
                  <a:srgbClr val="16293C"/>
                </a:solidFill>
                <a:latin typeface="Arial"/>
              </a:rPr>
              <a:t>an environment is a place you promote an artifact to — not a branch you merge code into.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THE SPINE OF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Build once, promote everywhere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169164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3727" y="1691640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93C"/>
                </a:solidFill>
                <a:latin typeface="Arial"/>
              </a:rPr>
              <a:t>CI build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98751" y="2125980"/>
            <a:ext cx="256032" cy="0"/>
          </a:xfrm>
          <a:prstGeom prst="line">
            <a:avLst/>
          </a:prstGeom>
          <a:ln w="28575">
            <a:solidFill>
              <a:srgbClr val="5C6B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91359" y="169164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1359" y="1691640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Artifactory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25.8.0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6383" y="2125980"/>
            <a:ext cx="256032" cy="0"/>
          </a:xfrm>
          <a:prstGeom prst="line">
            <a:avLst/>
          </a:prstGeom>
          <a:ln w="28575">
            <a:solidFill>
              <a:srgbClr val="5C6B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18991" y="169164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8991" y="1691640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93C"/>
                </a:solidFill>
                <a:latin typeface="Arial"/>
              </a:rPr>
              <a:t>QA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54015" y="2125980"/>
            <a:ext cx="256032" cy="0"/>
          </a:xfrm>
          <a:prstGeom prst="line">
            <a:avLst/>
          </a:prstGeom>
          <a:ln w="28575">
            <a:solidFill>
              <a:srgbClr val="5C6B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46623" y="169164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6623" y="1691640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93C"/>
                </a:solidFill>
                <a:latin typeface="Arial"/>
              </a:rPr>
              <a:t>UAT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81647" y="2125980"/>
            <a:ext cx="256032" cy="0"/>
          </a:xfrm>
          <a:prstGeom prst="line">
            <a:avLst/>
          </a:prstGeom>
          <a:ln w="28575">
            <a:solidFill>
              <a:srgbClr val="5C6B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74255" y="169164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0B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4255" y="1691640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Prod · HK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09279" y="2125980"/>
            <a:ext cx="256032" cy="0"/>
          </a:xfrm>
          <a:prstGeom prst="line">
            <a:avLst/>
          </a:prstGeom>
          <a:ln w="28575">
            <a:solidFill>
              <a:srgbClr val="5C6B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01887" y="169164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0B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1887" y="1691640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Prod · LDN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36911" y="2125980"/>
            <a:ext cx="256032" cy="0"/>
          </a:xfrm>
          <a:prstGeom prst="line">
            <a:avLst/>
          </a:prstGeom>
          <a:ln w="28575">
            <a:solidFill>
              <a:srgbClr val="5C6B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329519" y="1691640"/>
            <a:ext cx="1298448" cy="868680"/>
          </a:xfrm>
          <a:prstGeom prst="roundRect">
            <a:avLst>
              <a:gd name="adj" fmla="val 12000"/>
            </a:avLst>
          </a:prstGeom>
          <a:solidFill>
            <a:srgbClr val="0B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29519" y="1691640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Prod · US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18991" y="2816352"/>
            <a:ext cx="7808976" cy="0"/>
          </a:xfrm>
          <a:prstGeom prst="line">
            <a:avLst/>
          </a:prstGeom>
          <a:ln w="31750">
            <a:solidFill>
              <a:srgbClr val="02C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18991" y="2889503"/>
            <a:ext cx="78089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0A8F82"/>
                </a:solidFill>
                <a:latin typeface="Arial"/>
              </a:rPr>
              <a:t>the same bytes — the artifact tested in QA is byte-identical in every Prod region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03320"/>
            <a:ext cx="3529584" cy="2148840"/>
          </a:xfrm>
          <a:prstGeom prst="roundRect">
            <a:avLst>
              <a:gd name="adj" fmla="val 7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8096" y="3922776"/>
            <a:ext cx="457200" cy="457200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4046220"/>
            <a:ext cx="210311" cy="21031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8096" y="450799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6293C"/>
                </a:solidFill>
                <a:latin typeface="Arial"/>
              </a:rPr>
              <a:t>One artifact, zero config inside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873752"/>
            <a:ext cx="3090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4313D"/>
                </a:solidFill>
                <a:latin typeface="Arial"/>
              </a:rPr>
              <a:t>CI builds one environment-agnostic tarball per service per version. Published to Artifactory, immutable, never rebuilt.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5112" y="3703320"/>
            <a:ext cx="3529584" cy="2148840"/>
          </a:xfrm>
          <a:prstGeom prst="roundRect">
            <a:avLst>
              <a:gd name="adj" fmla="val 7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44568" y="3922776"/>
            <a:ext cx="457200" cy="457200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012" y="4046220"/>
            <a:ext cx="210311" cy="21031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44568" y="450799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6293C"/>
                </a:solidFill>
                <a:latin typeface="Arial"/>
              </a:rPr>
              <a:t>Config rendered at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4873752"/>
            <a:ext cx="3090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4313D"/>
                </a:solidFill>
                <a:latin typeface="Arial"/>
              </a:rPr>
              <a:t>What changes per target is only the config placed next to the binary at deploy time — from the config repo.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3703320"/>
            <a:ext cx="3529584" cy="2148840"/>
          </a:xfrm>
          <a:prstGeom prst="roundRect">
            <a:avLst>
              <a:gd name="adj" fmla="val 7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21040" y="3922776"/>
            <a:ext cx="457200" cy="457200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484" y="4046220"/>
            <a:ext cx="210311" cy="21031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21040" y="450799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6293C"/>
                </a:solidFill>
                <a:latin typeface="Arial"/>
              </a:rPr>
              <a:t>Promotion is metadata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873752"/>
            <a:ext cx="3090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24313D"/>
                </a:solidFill>
                <a:latin typeface="Arial"/>
              </a:rPr>
              <a:t>Moving 25.8.0 from UAT to Prod = a one-line manifest PR + an Artifactory repo move. Rebuilding for Prod = testing one binary, shipping another.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JAVA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Trunk-based development + release trains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93C"/>
                </a:solidFill>
                <a:latin typeface="Courier New"/>
              </a:rPr>
              <a:t>main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48840"/>
            <a:ext cx="5623560" cy="0"/>
          </a:xfrm>
          <a:prstGeom prst="line">
            <a:avLst/>
          </a:prstGeom>
          <a:ln w="38100">
            <a:solidFill>
              <a:srgbClr val="1629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82980" y="2080260"/>
            <a:ext cx="137160" cy="137160"/>
          </a:xfrm>
          <a:prstGeom prst="ellipse">
            <a:avLst/>
          </a:prstGeom>
          <a:solidFill>
            <a:srgbClr val="16293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1620" y="2080260"/>
            <a:ext cx="137160" cy="137160"/>
          </a:xfrm>
          <a:prstGeom prst="ellipse">
            <a:avLst/>
          </a:prstGeom>
          <a:solidFill>
            <a:srgbClr val="16293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80260" y="2080260"/>
            <a:ext cx="137160" cy="137160"/>
          </a:xfrm>
          <a:prstGeom prst="ellipse">
            <a:avLst/>
          </a:prstGeom>
          <a:solidFill>
            <a:srgbClr val="16293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28900" y="2080260"/>
            <a:ext cx="137160" cy="137160"/>
          </a:xfrm>
          <a:prstGeom prst="ellipse">
            <a:avLst/>
          </a:prstGeom>
          <a:solidFill>
            <a:srgbClr val="16293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77539" y="2080260"/>
            <a:ext cx="137160" cy="137160"/>
          </a:xfrm>
          <a:prstGeom prst="ellipse">
            <a:avLst/>
          </a:prstGeom>
          <a:solidFill>
            <a:srgbClr val="16293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26180" y="2080260"/>
            <a:ext cx="137160" cy="137160"/>
          </a:xfrm>
          <a:prstGeom prst="ellipse">
            <a:avLst/>
          </a:prstGeom>
          <a:solidFill>
            <a:srgbClr val="16293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820" y="2080260"/>
            <a:ext cx="137160" cy="137160"/>
          </a:xfrm>
          <a:prstGeom prst="ellipse">
            <a:avLst/>
          </a:prstGeom>
          <a:solidFill>
            <a:srgbClr val="16293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23459" y="2080260"/>
            <a:ext cx="137160" cy="137160"/>
          </a:xfrm>
          <a:prstGeom prst="ellipse">
            <a:avLst/>
          </a:prstGeom>
          <a:solidFill>
            <a:srgbClr val="16293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2100" y="2080260"/>
            <a:ext cx="137160" cy="137160"/>
          </a:xfrm>
          <a:prstGeom prst="ellipse">
            <a:avLst/>
          </a:prstGeom>
          <a:solidFill>
            <a:srgbClr val="16293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20740" y="2080260"/>
            <a:ext cx="137160" cy="137160"/>
          </a:xfrm>
          <a:prstGeom prst="ellipse">
            <a:avLst/>
          </a:prstGeom>
          <a:solidFill>
            <a:srgbClr val="16293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697480" y="2148840"/>
            <a:ext cx="502920" cy="960120"/>
          </a:xfrm>
          <a:prstGeom prst="line">
            <a:avLst/>
          </a:prstGeom>
          <a:ln w="31750">
            <a:solidFill>
              <a:srgbClr val="0A8F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0" y="3108960"/>
            <a:ext cx="1920240" cy="0"/>
          </a:xfrm>
          <a:prstGeom prst="line">
            <a:avLst/>
          </a:prstGeom>
          <a:ln w="31750">
            <a:solidFill>
              <a:srgbClr val="0A8F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451860" y="3040380"/>
            <a:ext cx="137160" cy="137160"/>
          </a:xfrm>
          <a:prstGeom prst="ellipse">
            <a:avLst/>
          </a:prstGeom>
          <a:solidFill>
            <a:srgbClr val="0A8F8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37659" y="3040380"/>
            <a:ext cx="137160" cy="137160"/>
          </a:xfrm>
          <a:prstGeom prst="ellipse">
            <a:avLst/>
          </a:prstGeom>
          <a:solidFill>
            <a:srgbClr val="0A8F8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23459" y="3040380"/>
            <a:ext cx="137160" cy="137160"/>
          </a:xfrm>
          <a:prstGeom prst="ellipse">
            <a:avLst/>
          </a:prstGeom>
          <a:solidFill>
            <a:srgbClr val="0A8F8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272491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A8F82"/>
                </a:solidFill>
                <a:latin typeface="Courier New"/>
              </a:rPr>
              <a:t>release/25.8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91256" y="329184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91256" y="3278124"/>
            <a:ext cx="6583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6293C"/>
                </a:solidFill>
                <a:latin typeface="Courier New"/>
              </a:rPr>
              <a:t>25.8.0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5" y="329184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2855" y="3278124"/>
            <a:ext cx="6583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6293C"/>
                </a:solidFill>
                <a:latin typeface="Courier New"/>
              </a:rPr>
              <a:t>25.8.1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2040" y="2148840"/>
            <a:ext cx="502920" cy="1965960"/>
          </a:xfrm>
          <a:prstGeom prst="line">
            <a:avLst/>
          </a:prstGeom>
          <a:ln w="31750">
            <a:solidFill>
              <a:srgbClr val="0A8F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0" y="4114800"/>
            <a:ext cx="960120" cy="0"/>
          </a:xfrm>
          <a:prstGeom prst="line">
            <a:avLst/>
          </a:prstGeom>
          <a:ln w="31750">
            <a:solidFill>
              <a:srgbClr val="0A8F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875020" y="4046220"/>
            <a:ext cx="137160" cy="137160"/>
          </a:xfrm>
          <a:prstGeom prst="ellipse">
            <a:avLst/>
          </a:prstGeom>
          <a:solidFill>
            <a:srgbClr val="0A8F8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373075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A8F82"/>
                </a:solidFill>
                <a:latin typeface="Courier New"/>
              </a:rPr>
              <a:t>release/25.9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14416" y="429768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14416" y="4283964"/>
            <a:ext cx="65836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6293C"/>
                </a:solidFill>
                <a:latin typeface="Courier New"/>
              </a:rPr>
              <a:t>25.9.0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937760"/>
            <a:ext cx="5760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6B79"/>
                </a:solidFill>
                <a:latin typeface="Arial"/>
              </a:rPr>
              <a:t>Every build that can reach Prod is a tag producing an immutable artifact.</a:t>
            </a:r>
          </a:p>
        </p:txBody>
      </p:sp>
      <p:sp>
        <p:nvSpPr>
          <p:cNvPr id="33" name="Oval 32"/>
          <p:cNvSpPr/>
          <p:nvPr/>
        </p:nvSpPr>
        <p:spPr>
          <a:xfrm>
            <a:off x="6903720" y="1481328"/>
            <a:ext cx="402336" cy="402336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350" y="1589958"/>
            <a:ext cx="185074" cy="18507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88936" y="1408176"/>
            <a:ext cx="41696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main is the only long-lived branch.</a:t>
            </a:r>
          </a:p>
          <a:p>
            <a:pPr algn="l"/>
            <a:r>
              <a:rPr sz="1150" b="0" i="0">
                <a:solidFill>
                  <a:srgbClr val="24313D"/>
                </a:solidFill>
                <a:latin typeface="Arial"/>
              </a:rPr>
              <a:t>Features merge via short-lived branches (days) with PR review + CI.</a:t>
            </a:r>
          </a:p>
        </p:txBody>
      </p:sp>
      <p:sp>
        <p:nvSpPr>
          <p:cNvPr id="36" name="Oval 35"/>
          <p:cNvSpPr/>
          <p:nvPr/>
        </p:nvSpPr>
        <p:spPr>
          <a:xfrm>
            <a:off x="6903720" y="2560320"/>
            <a:ext cx="402336" cy="402336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350" y="2668950"/>
            <a:ext cx="185074" cy="18507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88936" y="2487168"/>
            <a:ext cx="41696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Release trains on a fixed cadence.</a:t>
            </a:r>
          </a:p>
          <a:p>
            <a:pPr algn="l"/>
            <a:r>
              <a:rPr sz="1150" b="0" i="0">
                <a:solidFill>
                  <a:srgbClr val="24313D"/>
                </a:solidFill>
                <a:latin typeface="Arial"/>
              </a:rPr>
              <a:t>Cut release/25.8 every 2–4 weeks; the branch exists only for stabilization.</a:t>
            </a:r>
          </a:p>
        </p:txBody>
      </p:sp>
      <p:sp>
        <p:nvSpPr>
          <p:cNvPr id="39" name="Oval 38"/>
          <p:cNvSpPr/>
          <p:nvPr/>
        </p:nvSpPr>
        <p:spPr>
          <a:xfrm>
            <a:off x="6903720" y="3639312"/>
            <a:ext cx="402336" cy="402336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350" y="3747942"/>
            <a:ext cx="185074" cy="18507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488936" y="3566160"/>
            <a:ext cx="41696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Tags define what ships.</a:t>
            </a:r>
          </a:p>
          <a:p>
            <a:pPr algn="l"/>
            <a:r>
              <a:rPr sz="1150" b="0" i="0">
                <a:solidFill>
                  <a:srgbClr val="24313D"/>
                </a:solidFill>
                <a:latin typeface="Arial"/>
              </a:rPr>
              <a:t>25.8.0, 25.8.1 — tags, not branches, mark releases.</a:t>
            </a:r>
          </a:p>
        </p:txBody>
      </p:sp>
      <p:sp>
        <p:nvSpPr>
          <p:cNvPr id="42" name="Oval 41"/>
          <p:cNvSpPr/>
          <p:nvPr/>
        </p:nvSpPr>
        <p:spPr>
          <a:xfrm>
            <a:off x="6903720" y="4718304"/>
            <a:ext cx="402336" cy="402336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350" y="4826934"/>
            <a:ext cx="185074" cy="18507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488936" y="4645152"/>
            <a:ext cx="41696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Hotfix = fix on main, one cherry-pick to the live release.</a:t>
            </a:r>
          </a:p>
          <a:p>
            <a:pPr algn="l"/>
            <a:r>
              <a:rPr sz="1150" b="0" i="0">
                <a:solidFill>
                  <a:srgbClr val="24313D"/>
                </a:solidFill>
                <a:latin typeface="Arial"/>
              </a:rPr>
              <a:t>The only sanctioned cherry-pick in the whole system, always main → release.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GROUND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What we stop doing — what we start doing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3977639"/>
          </a:xfrm>
          <a:prstGeom prst="roundRect">
            <a:avLst>
              <a:gd name="adj" fmla="val 6000"/>
            </a:avLst>
          </a:prstGeom>
          <a:solidFill>
            <a:srgbClr val="F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6420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200">
                <a:solidFill>
                  <a:srgbClr val="B0483C"/>
                </a:solidFill>
                <a:latin typeface="Arial"/>
              </a:rPr>
              <a:t>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176272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0483C"/>
                </a:solidFill>
                <a:latin typeface="Arial"/>
              </a:rPr>
              <a:t>✕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Environment &amp; region branches (qa, uat, prod, hk, ldn)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816352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0483C"/>
                </a:solidFill>
                <a:latin typeface="Arial"/>
              </a:rPr>
              <a:t>✕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Cherry-picking fixes across release / environment branches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456432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0483C"/>
                </a:solidFill>
                <a:latin typeface="Arial"/>
              </a:rPr>
              <a:t>✕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Rebuilding the binary per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096511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0483C"/>
                </a:solidFill>
                <a:latin typeface="Arial"/>
              </a:rPr>
              <a:t>✕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Baking configuration into the tarball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4736592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0483C"/>
                </a:solidFill>
                <a:latin typeface="Arial"/>
              </a:rPr>
              <a:t>✕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Git Flow’s develop/main split — extra merges, zero benefit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63040"/>
            <a:ext cx="5394960" cy="3977639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66420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200">
                <a:solidFill>
                  <a:srgbClr val="0B6E64"/>
                </a:solidFill>
                <a:latin typeface="Arial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76272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6E64"/>
                </a:solidFill>
                <a:latin typeface="Arial"/>
              </a:rPr>
              <a:t>✓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Trunk + release trains; tags define every release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16352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6E64"/>
                </a:solidFill>
                <a:latin typeface="Arial"/>
              </a:rPr>
              <a:t>✓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One immutable artifact promoted QA → UAT → 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56432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6E64"/>
                </a:solidFill>
                <a:latin typeface="Arial"/>
              </a:rPr>
              <a:t>✓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Promotion &amp; rollback as small, audited manifest PRs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96511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6E64"/>
                </a:solidFill>
                <a:latin typeface="Arial"/>
              </a:rPr>
              <a:t>✓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Config rendered at deploy time from the config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736592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6E64"/>
                </a:solidFill>
                <a:latin typeface="Arial"/>
              </a:rPr>
              <a:t>✓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Feature flags (kept few) to decouple go-live by region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94415" cy="685800"/>
          </a:xfrm>
          <a:prstGeom prst="roundRect">
            <a:avLst>
              <a:gd name="adj" fmla="val 1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5820156"/>
            <a:ext cx="384048" cy="384048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00" y="5923848"/>
            <a:ext cx="176662" cy="1766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25880" y="5715000"/>
            <a:ext cx="1008857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16293C"/>
                </a:solidFill>
                <a:latin typeface="Arial"/>
              </a:rPr>
              <a:t>Regional go-live differences (HK enables a flow before US) become </a:t>
            </a:r>
            <a:r>
              <a:rPr sz="1300" b="1" i="1">
                <a:solidFill>
                  <a:srgbClr val="0A8F82"/>
                </a:solidFill>
                <a:latin typeface="Arial"/>
              </a:rPr>
              <a:t>flags + staggered manifest PRs</a:t>
            </a:r>
            <a:r>
              <a:rPr sz="1300" b="0" i="1">
                <a:solidFill>
                  <a:srgbClr val="16293C"/>
                </a:solidFill>
                <a:latin typeface="Arial"/>
              </a:rPr>
              <a:t> — never code divergence.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BUSINESS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One repo, many independently deployable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029200" cy="2606040"/>
          </a:xfrm>
          <a:prstGeom prst="roundRect">
            <a:avLst>
              <a:gd name="adj" fmla="val 6000"/>
            </a:avLst>
          </a:prstGeom>
          <a:solidFill>
            <a:srgbClr val="10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28216"/>
            <a:ext cx="4663440" cy="2350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02C39A"/>
                </a:solidFill>
                <a:latin typeface="Courier New"/>
              </a:rPr>
              <a:t>trading-platform/</a:t>
            </a:r>
            <a:r>
              <a:rPr sz="1150" b="0" i="0">
                <a:solidFill>
                  <a:srgbClr val="7FA0BC"/>
                </a:solidFill>
                <a:latin typeface="Courier New"/>
              </a:rPr>
              <a:t>            (one Git repo)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├─ libs/</a:t>
            </a:r>
            <a:r>
              <a:rPr sz="1150" b="0" i="0">
                <a:solidFill>
                  <a:srgbClr val="7FA0BC"/>
                </a:solidFill>
                <a:latin typeface="Courier New"/>
              </a:rPr>
              <a:t>                    shared libraries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│  ├─ core-domain/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│  └─ messaging/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├─ services/</a:t>
            </a:r>
            <a:r>
              <a:rPr sz="1150" b="0" i="0">
                <a:solidFill>
                  <a:srgbClr val="7FA0BC"/>
                </a:solidFill>
                <a:latin typeface="Courier New"/>
              </a:rPr>
              <a:t>                one deployable each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│  ├─ mo-booking/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│  ├─ equities-trade-report/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│  ├─ fi-trade-report/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│  └─ swaps-lifecycle/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└─ build.gradle</a:t>
            </a:r>
            <a:r>
              <a:rPr sz="1150" b="0" i="0">
                <a:solidFill>
                  <a:srgbClr val="7FA0BC"/>
                </a:solidFill>
                <a:latin typeface="Courier New"/>
              </a:rPr>
              <a:t>            multi-module build</a:t>
            </a:r>
          </a:p>
        </p:txBody>
      </p:sp>
      <p:sp>
        <p:nvSpPr>
          <p:cNvPr id="6" name="Oval 5"/>
          <p:cNvSpPr/>
          <p:nvPr/>
        </p:nvSpPr>
        <p:spPr>
          <a:xfrm>
            <a:off x="6035040" y="1481328"/>
            <a:ext cx="402336" cy="402336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70" y="1589958"/>
            <a:ext cx="185074" cy="1850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0255" y="1408176"/>
            <a:ext cx="499262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Own artifact, own cadence.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Each services/* module ships its own versioned artifact — equities can release weekly while swaps releases monthly, from the same repo.</a:t>
            </a:r>
          </a:p>
        </p:txBody>
      </p:sp>
      <p:sp>
        <p:nvSpPr>
          <p:cNvPr id="9" name="Oval 8"/>
          <p:cNvSpPr/>
          <p:nvPr/>
        </p:nvSpPr>
        <p:spPr>
          <a:xfrm>
            <a:off x="6035040" y="2542032"/>
            <a:ext cx="402336" cy="402336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70" y="2650662"/>
            <a:ext cx="185074" cy="1850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0255" y="2468880"/>
            <a:ext cx="499262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Build only what changed.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CI builds and tests affected modules per commit (Gradle build cache / path filters).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0" y="3602736"/>
            <a:ext cx="402336" cy="402336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70" y="3711366"/>
            <a:ext cx="185074" cy="1850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0255" y="3529584"/>
            <a:ext cx="499262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CODEOWNERS per domain.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Equities owns services/equities-*, so global teams don’t trample each other.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4663440"/>
            <a:ext cx="402336" cy="402336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70" y="4772070"/>
            <a:ext cx="185074" cy="1850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20255" y="4590288"/>
            <a:ext cx="499262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Don’t split repos early.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Split a module out later only if a domain truly needs independent tooling — early splits turn compile-time errors into cross-repo version hell.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REALITY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Adapting for human QA/UAT (few automated tests)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4313D"/>
                </a:solidFill>
                <a:latin typeface="Arial"/>
              </a:rPr>
              <a:t>Pure trunk-based development assumes automated tests gate every merge. Without them, main is never “always releasable” — human QA needs a frozen target. Two changes: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2651760"/>
          </a:xfrm>
          <a:prstGeom prst="roundRect">
            <a:avLst>
              <a:gd name="adj" fmla="val 7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" y="2340863"/>
            <a:ext cx="457200" cy="457200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2464307"/>
            <a:ext cx="210311" cy="2103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89888" y="2377439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6293C"/>
                </a:solidFill>
                <a:latin typeface="Arial"/>
              </a:rPr>
              <a:t>1.  Release branches live longer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8F82"/>
                </a:solidFill>
                <a:latin typeface="Arial"/>
              </a:rPr>
              <a:t>•  </a:t>
            </a:r>
            <a:r>
              <a:rPr sz="1200" b="0" i="0">
                <a:solidFill>
                  <a:srgbClr val="24313D"/>
                </a:solidFill>
                <a:latin typeface="Arial"/>
              </a:rPr>
              <a:t>Cut release/25.8, build RC1 — humans test that exact artifact in QA, then UAT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47872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8F82"/>
                </a:solidFill>
                <a:latin typeface="Arial"/>
              </a:rPr>
              <a:t>•  </a:t>
            </a:r>
            <a:r>
              <a:rPr sz="1200" b="0" i="0">
                <a:solidFill>
                  <a:srgbClr val="24313D"/>
                </a:solidFill>
                <a:latin typeface="Arial"/>
              </a:rPr>
              <a:t>Branch lives for the whole manual cycle (2–4 weeks is normal); main keeps moving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123944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8F82"/>
                </a:solidFill>
                <a:latin typeface="Arial"/>
              </a:rPr>
              <a:t>•  </a:t>
            </a:r>
            <a:r>
              <a:rPr sz="1200" b="0" i="0">
                <a:solidFill>
                  <a:srgbClr val="24313D"/>
                </a:solidFill>
                <a:latin typeface="Arial"/>
              </a:rPr>
              <a:t>Hard limit: at most 1–2 active release branches, or the merge matrix returns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103120"/>
            <a:ext cx="5394960" cy="2651760"/>
          </a:xfrm>
          <a:prstGeom prst="roundRect">
            <a:avLst>
              <a:gd name="adj" fmla="val 7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3096" y="2340863"/>
            <a:ext cx="457200" cy="457200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2464307"/>
            <a:ext cx="210311" cy="2103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86600" y="2377439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6293C"/>
                </a:solidFill>
                <a:latin typeface="Arial"/>
              </a:rPr>
              <a:t>2.  Fix direction reverses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9718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8F82"/>
                </a:solidFill>
                <a:latin typeface="Arial"/>
              </a:rPr>
              <a:t>•  </a:t>
            </a:r>
            <a:r>
              <a:rPr sz="1200" b="0" i="0">
                <a:solidFill>
                  <a:srgbClr val="24313D"/>
                </a:solidFill>
                <a:latin typeface="Arial"/>
              </a:rPr>
              <a:t>QA bug → fix on the release branch → new RC → humans retest just that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547872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8F82"/>
                </a:solidFill>
                <a:latin typeface="Arial"/>
              </a:rPr>
              <a:t>•  </a:t>
            </a:r>
            <a:r>
              <a:rPr sz="1200" b="0" i="0">
                <a:solidFill>
                  <a:srgbClr val="24313D"/>
                </a:solidFill>
                <a:latin typeface="Arial"/>
              </a:rPr>
              <a:t>main can’t go first: it holds days of unverified work that must not ride along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4123944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8F82"/>
                </a:solidFill>
                <a:latin typeface="Arial"/>
              </a:rPr>
              <a:t>•  </a:t>
            </a:r>
            <a:r>
              <a:rPr sz="1200" b="0" i="0">
                <a:solidFill>
                  <a:srgbClr val="24313D"/>
                </a:solidFill>
                <a:latin typeface="Arial"/>
              </a:rPr>
              <a:t>Merge — not cherry-pick — the release branch back into main; a merge can’t silently miss a fix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1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5317236"/>
            <a:ext cx="384048" cy="384048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500" y="5420928"/>
            <a:ext cx="176662" cy="17666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25880" y="5120640"/>
            <a:ext cx="1008857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A8F82"/>
                </a:solidFill>
                <a:latin typeface="Arial"/>
              </a:rPr>
              <a:t>Transitional, not permanent:  </a:t>
            </a:r>
            <a:r>
              <a:rPr sz="1250" b="0" i="1">
                <a:solidFill>
                  <a:srgbClr val="16293C"/>
                </a:solidFill>
                <a:latin typeface="Arial"/>
              </a:rPr>
              <a:t>each cycle, automate whatever QA actually caught — the highest-value tests you can write. As the suite grows, stabilization shrinks from 4 weeks toward days and the model converges on standard trunk + short release branches.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FEATURE BACK-OUT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Throwaway integration branches (dev-1 → dev-2)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577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Why not revert the merge?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git revert -m 1 removes the content but leaves the merge in history — when the fixed feature is re-merged later, Git sees it as “already merged” and silently brings in nothing. Rebuilding dev-N avoids the trap entirely.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2" y="2709732"/>
            <a:ext cx="176662" cy="1766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" y="2551176"/>
            <a:ext cx="50109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4313D"/>
                </a:solidFill>
                <a:latin typeface="Arial"/>
              </a:rPr>
              <a:t>dev-N is a build artifact, not a source of truth — generated, never merged into anything, nobody commits to it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502152"/>
            <a:ext cx="384048" cy="384048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2" y="3605844"/>
            <a:ext cx="176662" cy="1766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3447288"/>
            <a:ext cx="50109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4313D"/>
                </a:solidFill>
                <a:latin typeface="Arial"/>
              </a:rPr>
              <a:t>Back-out = delete one line in the manifest; CI rebuilds dev-N+1 from the survivors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98264"/>
            <a:ext cx="384048" cy="384048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2" y="4501956"/>
            <a:ext cx="176662" cy="17666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" y="4343400"/>
            <a:ext cx="50109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4313D"/>
                </a:solidFill>
                <a:latin typeface="Arial"/>
              </a:rPr>
              <a:t>Fixes land on the feature branch, never on dev-N (it’s disposable)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294376"/>
            <a:ext cx="384048" cy="384048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2" y="5398068"/>
            <a:ext cx="176662" cy="17666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5568" y="5239512"/>
            <a:ext cx="50109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4313D"/>
                </a:solidFill>
                <a:latin typeface="Arial"/>
              </a:rPr>
              <a:t>Ship: merge accepted branches to main, tag — then verify git diff dev-3 &lt;tag&gt; is empty, so QA’s sign-off carries over without retesting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41732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8F82"/>
                </a:solidFill>
                <a:latin typeface="Arial"/>
              </a:rPr>
              <a:t>The candidate manifest drives everything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83080"/>
            <a:ext cx="5120640" cy="3246120"/>
          </a:xfrm>
          <a:prstGeom prst="roundRect">
            <a:avLst>
              <a:gd name="adj" fmla="val 6000"/>
            </a:avLst>
          </a:prstGeom>
          <a:solidFill>
            <a:srgbClr val="10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7" y="1911095"/>
            <a:ext cx="4754879" cy="2990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FA0BC"/>
                </a:solidFill>
                <a:latin typeface="Courier New"/>
              </a:rPr>
              <a:t># release-candidates/25.8.yaml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9DCEF"/>
                </a:solidFill>
                <a:latin typeface="Courier New"/>
              </a:rPr>
              <a:t>integration: </a:t>
            </a:r>
            <a:r>
              <a:rPr sz="1150" b="0" i="0">
                <a:solidFill>
                  <a:srgbClr val="D6E4F0"/>
                </a:solidFill>
                <a:latin typeface="Courier New"/>
              </a:rPr>
              <a:t>dev-3</a:t>
            </a:r>
            <a:r>
              <a:rPr sz="1150" b="0" i="0">
                <a:solidFill>
                  <a:srgbClr val="7FA0BC"/>
                </a:solidFill>
                <a:latin typeface="Courier New"/>
              </a:rPr>
              <a:t>      # bump each rebuild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9DCEF"/>
                </a:solidFill>
                <a:latin typeface="Courier New"/>
              </a:rPr>
              <a:t>base: </a:t>
            </a:r>
            <a:r>
              <a:rPr sz="1150" b="0" i="0">
                <a:solidFill>
                  <a:srgbClr val="D6E4F0"/>
                </a:solidFill>
                <a:latin typeface="Courier New"/>
              </a:rPr>
              <a:t>main@1f9c2e7</a:t>
            </a:r>
            <a:r>
              <a:rPr sz="1150" b="0" i="0">
                <a:solidFill>
                  <a:srgbClr val="7FA0BC"/>
                </a:solidFill>
                <a:latin typeface="Courier New"/>
              </a:rPr>
              <a:t>     # pinned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9DCEF"/>
                </a:solidFill>
                <a:latin typeface="Courier New"/>
              </a:rPr>
              <a:t>features: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  - feature/eq-report-mifid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  - feature/mo-booking-amend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  - feature/swaps-csa-calc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6E4F0"/>
                </a:solidFill>
                <a:latin typeface="Courier New"/>
              </a:rPr>
              <a:t>  - feature/fi-curve-bootstrap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98A80"/>
                </a:solidFill>
                <a:latin typeface="Courier New"/>
              </a:rPr>
              <a:t># - feature/eq-alloc-rework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FA0BC"/>
                </a:solidFill>
                <a:latin typeface="Courier New"/>
              </a:rPr>
              <a:t>#   ↑ backed out: one line,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FA0BC"/>
                </a:solidFill>
                <a:latin typeface="Courier New"/>
              </a:rPr>
              <a:t>#     CI rebuilds dev-4 + new RC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38928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C6B79"/>
                </a:solidFill>
                <a:latin typeface="Arial"/>
              </a:rPr>
              <a:t>Conflicts: keep feature branches rebased on main; git rerere replays recorded resolutions on every rebuild.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FEATURE BACK-OUT,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Ephemeral environments — complementary, not an alternative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94960" cy="3383280"/>
          </a:xfrm>
          <a:prstGeom prst="roundRect">
            <a:avLst>
              <a:gd name="adj" fmla="val 7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1746504"/>
            <a:ext cx="457200" cy="457200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1869948"/>
            <a:ext cx="210311" cy="2103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9888" y="1691639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6293C"/>
                </a:solidFill>
                <a:latin typeface="Arial"/>
              </a:rPr>
              <a:t>Throwaway integration branch</a:t>
            </a:r>
          </a:p>
          <a:p>
            <a:pPr algn="l"/>
            <a:r>
              <a:rPr sz="1100" b="1" i="0">
                <a:solidFill>
                  <a:srgbClr val="0A8F82"/>
                </a:solidFill>
                <a:latin typeface="Arial"/>
              </a:rPr>
              <a:t>adopt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6E64"/>
                </a:solidFill>
                <a:latin typeface="Arial"/>
              </a:rPr>
              <a:t>✓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Pure Git process — works today with tarballs and human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6E64"/>
                </a:solidFill>
                <a:latin typeface="Arial"/>
              </a:rPr>
              <a:t>✓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Makes back-out fast: one line, one rebuild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93192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6E64"/>
                </a:solidFill>
                <a:latin typeface="Arial"/>
              </a:rPr>
              <a:t>✓  </a:t>
            </a:r>
            <a:r>
              <a:rPr sz="1250" b="0" i="0">
                <a:solidFill>
                  <a:srgbClr val="24313D"/>
                </a:solidFill>
                <a:latin typeface="Arial"/>
              </a:rPr>
              <a:t>Answers: “do these features work together?”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508760"/>
            <a:ext cx="5394960" cy="3383280"/>
          </a:xfrm>
          <a:prstGeom prst="roundRect">
            <a:avLst>
              <a:gd name="adj" fmla="val 7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83096" y="1746504"/>
            <a:ext cx="457200" cy="457200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1869948"/>
            <a:ext cx="210311" cy="2103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86600" y="1691639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6293C"/>
                </a:solidFill>
                <a:latin typeface="Arial"/>
              </a:rPr>
              <a:t>Ephemeral env per feature branch</a:t>
            </a:r>
          </a:p>
          <a:p>
            <a:pPr algn="l"/>
            <a:r>
              <a:rPr sz="1100" b="1" i="0">
                <a:solidFill>
                  <a:srgbClr val="E09B3D"/>
                </a:solidFill>
                <a:latin typeface="Arial"/>
              </a:rPr>
              <a:t>adopt after containerization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56032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6E64"/>
                </a:solidFill>
                <a:latin typeface="Arial"/>
              </a:rPr>
              <a:t>✓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Each feature signed off in isolation before it enters the manifest — makes back-out rare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24612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6E64"/>
                </a:solidFill>
                <a:latin typeface="Arial"/>
              </a:rPr>
              <a:t>✓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Heavy with tarballs (VM pool, per-env DB, ports); nearly free on EKS: namespace per branch, Argo CD ApplicationSet, TTL teardown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93192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B6E64"/>
                </a:solidFill>
                <a:latin typeface="Arial"/>
              </a:rPr>
              <a:t>✓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Answers: “does this feature work?”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11094415" cy="777240"/>
          </a:xfrm>
          <a:prstGeom prst="roundRect">
            <a:avLst>
              <a:gd name="adj" fmla="val 1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5408676"/>
            <a:ext cx="384048" cy="384048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500" y="5512368"/>
            <a:ext cx="176662" cy="1766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25880" y="5257800"/>
            <a:ext cx="100885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A8F82"/>
                </a:solidFill>
                <a:latin typeface="Arial"/>
              </a:rPr>
              <a:t>End state:  </a:t>
            </a:r>
            <a:r>
              <a:rPr sz="1300" b="0" i="1">
                <a:solidFill>
                  <a:srgbClr val="16293C"/>
                </a:solidFill>
                <a:latin typeface="Arial"/>
              </a:rPr>
              <a:t>the ephemeral env catches weak features before integration; dev-N catches cross-feature interactions — and either failing has a one-line back-out.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CONFIGURATION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One repo, one branch — directories for everything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212080" cy="2788920"/>
          </a:xfrm>
          <a:prstGeom prst="roundRect">
            <a:avLst>
              <a:gd name="adj" fmla="val 6000"/>
            </a:avLst>
          </a:prstGeom>
          <a:solidFill>
            <a:srgbClr val="10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82495"/>
            <a:ext cx="4846320" cy="253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02C39A"/>
                </a:solidFill>
                <a:latin typeface="Courier New"/>
              </a:rPr>
              <a:t>platform-config/</a:t>
            </a:r>
            <a:r>
              <a:rPr sz="1100" b="0" i="0">
                <a:solidFill>
                  <a:srgbClr val="7FA0BC"/>
                </a:solidFill>
                <a:latin typeface="Courier New"/>
              </a:rPr>
              <a:t>        (trunk-only)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6E4F0"/>
                </a:solidFill>
                <a:latin typeface="Courier New"/>
              </a:rPr>
              <a:t>├─ global/defaults.yaml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6E4F0"/>
                </a:solidFill>
                <a:latin typeface="Courier New"/>
              </a:rPr>
              <a:t>├─ services/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6E4F0"/>
                </a:solidFill>
                <a:latin typeface="Courier New"/>
              </a:rPr>
              <a:t>│  └─ equities-trade-report/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6E4F0"/>
                </a:solidFill>
                <a:latin typeface="Courier New"/>
              </a:rPr>
              <a:t>│     ├─ base.yaml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6E4F0"/>
                </a:solidFill>
                <a:latin typeface="Courier New"/>
              </a:rPr>
              <a:t>│     └─ overlays/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6E4F0"/>
                </a:solidFill>
                <a:latin typeface="Courier New"/>
              </a:rPr>
              <a:t>│        ├─ qa/  us hk ldn .yaml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6E4F0"/>
                </a:solidFill>
                <a:latin typeface="Courier New"/>
              </a:rPr>
              <a:t>│        ├─ uat/ …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6E4F0"/>
                </a:solidFill>
                <a:latin typeface="Courier New"/>
              </a:rPr>
              <a:t>│        └─ prod/ us hk ldn .yaml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6E4F0"/>
                </a:solidFill>
                <a:latin typeface="Courier New"/>
              </a:rPr>
              <a:t>├─ flags/</a:t>
            </a:r>
            <a:r>
              <a:rPr sz="1100" b="0" i="0">
                <a:solidFill>
                  <a:srgbClr val="7FA0BC"/>
                </a:solidFill>
                <a:latin typeface="Courier New"/>
              </a:rPr>
              <a:t>              feature flags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D6E4F0"/>
                </a:solidFill>
                <a:latin typeface="Courier New"/>
              </a:rPr>
              <a:t>└─ deploy/</a:t>
            </a:r>
            <a:r>
              <a:rPr sz="1100" b="0" i="0">
                <a:solidFill>
                  <a:srgbClr val="7FA0BC"/>
                </a:solidFill>
                <a:latin typeface="Courier New"/>
              </a:rPr>
              <a:t>             release manifests →</a:t>
            </a:r>
          </a:p>
        </p:txBody>
      </p:sp>
      <p:sp>
        <p:nvSpPr>
          <p:cNvPr id="6" name="Oval 5"/>
          <p:cNvSpPr/>
          <p:nvPr/>
        </p:nvSpPr>
        <p:spPr>
          <a:xfrm>
            <a:off x="6217920" y="1481328"/>
            <a:ext cx="402336" cy="402336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550" y="1589958"/>
            <a:ext cx="185074" cy="1850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03136" y="1408176"/>
            <a:ext cx="4809744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HEAD of main = the world.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Any historical commit is a full snapshot of every env &amp; region — a regulator-ready audit trail.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560320"/>
            <a:ext cx="402336" cy="402336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550" y="2668950"/>
            <a:ext cx="185074" cy="1850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03136" y="2487168"/>
            <a:ext cx="4809744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Layered overlays, deltas only.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Effective config = global ⊕ service base ⊕ env/region. Overlay files hold only differences — no drift through copies.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3639312"/>
            <a:ext cx="402336" cy="402336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550" y="3747942"/>
            <a:ext cx="185074" cy="1850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03136" y="3566160"/>
            <a:ext cx="4809744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A config change is a PR.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CI renders all 9 env×region combos + schema check; CODEOWNERS require prod approvers on overlays/prod/** and deploy/**.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718304"/>
            <a:ext cx="402336" cy="402336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550" y="4826934"/>
            <a:ext cx="185074" cy="1850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03136" y="4645152"/>
            <a:ext cx="4809744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No secrets in Git — ever.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Config holds references (vault:secret/…); values live in Vault, later AWS Secrets Manager.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DEPLOYMENT AS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Release manifests — GitOps before Kubernetes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4663440" cy="1691640"/>
          </a:xfrm>
          <a:prstGeom prst="roundRect">
            <a:avLst>
              <a:gd name="adj" fmla="val 6000"/>
            </a:avLst>
          </a:prstGeom>
          <a:solidFill>
            <a:srgbClr val="10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82495"/>
            <a:ext cx="4297679" cy="143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FA0BC"/>
                </a:solidFill>
                <a:latin typeface="Courier New"/>
              </a:rPr>
              <a:t># deploy/equities-trade-report/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7FA0BC"/>
                </a:solidFill>
                <a:latin typeface="Courier New"/>
              </a:rPr>
              <a:t>#         prod-hk.yaml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C9DCEF"/>
                </a:solidFill>
                <a:latin typeface="Courier New"/>
              </a:rPr>
              <a:t>service: </a:t>
            </a:r>
            <a:r>
              <a:rPr sz="1200" b="0" i="0">
                <a:solidFill>
                  <a:srgbClr val="D6E4F0"/>
                </a:solidFill>
                <a:latin typeface="Courier New"/>
              </a:rPr>
              <a:t>equities-trade-report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C9DCEF"/>
                </a:solidFill>
                <a:latin typeface="Courier New"/>
              </a:rPr>
              <a:t>version: </a:t>
            </a:r>
            <a:r>
              <a:rPr sz="1200" b="0" i="0">
                <a:solidFill>
                  <a:srgbClr val="D6E4F0"/>
                </a:solidFill>
                <a:latin typeface="Courier New"/>
              </a:rPr>
              <a:t>25.8.0</a:t>
            </a:r>
            <a:r>
              <a:rPr sz="1200" b="0" i="0">
                <a:solidFill>
                  <a:srgbClr val="7FA0BC"/>
                </a:solidFill>
                <a:latin typeface="Courier New"/>
              </a:rPr>
              <a:t>    # Artifactory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C9DCEF"/>
                </a:solidFill>
                <a:latin typeface="Courier New"/>
              </a:rPr>
              <a:t>configRef: </a:t>
            </a:r>
            <a:r>
              <a:rPr sz="1200" b="0" i="0">
                <a:solidFill>
                  <a:srgbClr val="D6E4F0"/>
                </a:solidFill>
                <a:latin typeface="Courier New"/>
              </a:rPr>
              <a:t>9f3ac21</a:t>
            </a:r>
            <a:r>
              <a:rPr sz="1200" b="0" i="0">
                <a:solidFill>
                  <a:srgbClr val="7FA0BC"/>
                </a:solidFill>
                <a:latin typeface="Courier New"/>
              </a:rPr>
              <a:t>  # config 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156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6B79"/>
                </a:solidFill>
                <a:latin typeface="Arial"/>
              </a:rPr>
              <a:t>One tiny file per service per env×region declares what runs where.</a:t>
            </a:r>
          </a:p>
        </p:txBody>
      </p:sp>
      <p:sp>
        <p:nvSpPr>
          <p:cNvPr id="7" name="Oval 6"/>
          <p:cNvSpPr/>
          <p:nvPr/>
        </p:nvSpPr>
        <p:spPr>
          <a:xfrm>
            <a:off x="5669280" y="1463040"/>
            <a:ext cx="384048" cy="384048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972" y="1566732"/>
            <a:ext cx="176662" cy="1766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6208" y="1389888"/>
            <a:ext cx="5376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Deploy = a PR that edits this file.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Merge triggers the deploy job for exactly that env/region.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0" y="2368296"/>
            <a:ext cx="384048" cy="384048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972" y="2471988"/>
            <a:ext cx="176662" cy="1766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36208" y="2295144"/>
            <a:ext cx="5376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Rollback = git revert.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No rebuild, no cherry-pick — seconds to execute, fully audited.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0" y="3273552"/>
            <a:ext cx="384048" cy="384048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972" y="3377244"/>
            <a:ext cx="176662" cy="1766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36208" y="3200400"/>
            <a:ext cx="5376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“What runs in Prod-HK right now?”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Read one file. One command, always true.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0" y="4178808"/>
            <a:ext cx="384048" cy="384048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972" y="4282500"/>
            <a:ext cx="176662" cy="17666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36208" y="4105656"/>
            <a:ext cx="5376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Follow-the-sun rollout.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Promote 25.8.0 to HK in its window, watch a trading day, then LDN, then US — three small PRs, not three branches.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0" y="5084064"/>
            <a:ext cx="384048" cy="384048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2972" y="5187756"/>
            <a:ext cx="176662" cy="17666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36208" y="5010912"/>
            <a:ext cx="5376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This is exactly the Argo CD model.  </a:t>
            </a:r>
            <a:r>
              <a:rPr sz="1150" b="0" i="0">
                <a:solidFill>
                  <a:srgbClr val="24313D"/>
                </a:solidFill>
                <a:latin typeface="Arial"/>
              </a:rPr>
              <a:t>Ansible/Jenkins executes it today; on EKS, Argo CD takes over the same repo — the executor changes, the process doesn’t.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TARBALL WORLD,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Deploy-time composition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9155" y="1691640"/>
            <a:ext cx="1700784" cy="164592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7171" y="1819656"/>
            <a:ext cx="365760" cy="365760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7171" y="1801368"/>
            <a:ext cx="365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171" y="2295144"/>
            <a:ext cx="1444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Pull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171" y="2624328"/>
            <a:ext cx="1444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4313D"/>
                </a:solidFill>
                <a:latin typeface="Arial"/>
              </a:rPr>
              <a:t>equities-trade-report-25.8.0.tar.gz from Artifactory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3675" y="1691640"/>
            <a:ext cx="1700784" cy="164592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1691" y="1819656"/>
            <a:ext cx="365760" cy="365760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1691" y="1801368"/>
            <a:ext cx="365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1691" y="2295144"/>
            <a:ext cx="1444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Checkout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1691" y="2624328"/>
            <a:ext cx="1444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4313D"/>
                </a:solidFill>
                <a:latin typeface="Arial"/>
              </a:rPr>
              <a:t>platform-config at the manifest’s configRef sha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8195" y="1691640"/>
            <a:ext cx="1700784" cy="164592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6211" y="1819656"/>
            <a:ext cx="365760" cy="365760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6211" y="1801368"/>
            <a:ext cx="365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211" y="2295144"/>
            <a:ext cx="1444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Render 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211" y="2624328"/>
            <a:ext cx="1444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4313D"/>
                </a:solidFill>
                <a:latin typeface="Arial"/>
              </a:rPr>
              <a:t>merge layers for env=prod, region=hk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2715" y="1691640"/>
            <a:ext cx="1700784" cy="164592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10731" y="1819656"/>
            <a:ext cx="365760" cy="365760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0731" y="1801368"/>
            <a:ext cx="365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0731" y="2295144"/>
            <a:ext cx="1444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Fetch secrets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0731" y="2624328"/>
            <a:ext cx="1444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4313D"/>
                </a:solidFill>
                <a:latin typeface="Arial"/>
              </a:rPr>
              <a:t>resolve vault:… references from Vault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7235" y="1691640"/>
            <a:ext cx="1700784" cy="1645920"/>
          </a:xfrm>
          <a:prstGeom prst="roundRect">
            <a:avLst>
              <a:gd name="adj" fmla="val 8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85251" y="1819656"/>
            <a:ext cx="365760" cy="365760"/>
          </a:xfrm>
          <a:prstGeom prst="ellipse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5251" y="1801368"/>
            <a:ext cx="365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5251" y="2295144"/>
            <a:ext cx="1444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93C"/>
                </a:solidFill>
                <a:latin typeface="Arial"/>
              </a:rPr>
              <a:t>Assemble 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5251" y="2624328"/>
            <a:ext cx="1444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4313D"/>
                </a:solidFill>
                <a:latin typeface="Arial"/>
              </a:rPr>
              <a:t>app/ + config/ + secrets — side by side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31755" y="1691640"/>
            <a:ext cx="1700784" cy="1645920"/>
          </a:xfrm>
          <a:prstGeom prst="roundRect">
            <a:avLst>
              <a:gd name="adj" fmla="val 8000"/>
            </a:avLst>
          </a:prstGeom>
          <a:solidFill>
            <a:srgbClr val="0B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9771" y="1819656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9771" y="1801368"/>
            <a:ext cx="365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6293C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9771" y="2295144"/>
            <a:ext cx="1444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Swap + 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771" y="2624328"/>
            <a:ext cx="1444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9DCEF"/>
                </a:solidFill>
                <a:latin typeface="Arial"/>
              </a:rPr>
              <a:t>stop, symlink swap, start, health check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72" y="3989892"/>
            <a:ext cx="176662" cy="17666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34440" y="3867912"/>
            <a:ext cx="101800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4313D"/>
                </a:solidFill>
                <a:latin typeface="Arial"/>
              </a:rPr>
              <a:t>The binary never changes per environment — only what sits next to it does.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4572000"/>
            <a:ext cx="384048" cy="384048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2" y="4675692"/>
            <a:ext cx="176662" cy="17666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34440" y="4553712"/>
            <a:ext cx="101800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4313D"/>
                </a:solidFill>
                <a:latin typeface="Arial"/>
              </a:rPr>
              <a:t>Executed by Ansible (or a Jenkins deploy job), triggered by the manifest PR merge.</a:t>
            </a:r>
          </a:p>
        </p:txBody>
      </p:sp>
      <p:sp>
        <p:nvSpPr>
          <p:cNvPr id="40" name="Oval 39"/>
          <p:cNvSpPr/>
          <p:nvPr/>
        </p:nvSpPr>
        <p:spPr>
          <a:xfrm>
            <a:off x="640080" y="5257800"/>
            <a:ext cx="384048" cy="384048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72" y="5361492"/>
            <a:ext cx="176662" cy="17666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34440" y="5239512"/>
            <a:ext cx="101800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24313D"/>
                </a:solidFill>
                <a:latin typeface="Arial"/>
              </a:rPr>
              <a:t>The same six steps become the container entrypoint later — image = step 1; ConfigMaps/Secrets = steps 2–4.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CI/CD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Tooling — on-prem today, AWS tomorrow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892808" cy="457200"/>
          </a:xfrm>
          <a:prstGeom prst="rect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63040"/>
            <a:ext cx="1618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63040"/>
            <a:ext cx="5093207" cy="457200"/>
          </a:xfrm>
          <a:prstGeom prst="rect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15184" y="1463040"/>
            <a:ext cx="48188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On-prem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463040"/>
            <a:ext cx="4026103" cy="457200"/>
          </a:xfrm>
          <a:prstGeom prst="rect">
            <a:avLst/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35824" y="1463040"/>
            <a:ext cx="37517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AWS tomorrow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1892808" cy="566928"/>
          </a:xfrm>
          <a:prstGeom prst="rect">
            <a:avLst/>
          </a:prstGeom>
          <a:solidFill>
            <a:srgbClr val="E2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993391"/>
            <a:ext cx="1618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293C"/>
                </a:solidFill>
                <a:latin typeface="Arial"/>
              </a:rPr>
              <a:t>Source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1947672"/>
            <a:ext cx="5093207" cy="566928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1993391"/>
            <a:ext cx="48188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GitHub Enterprise / GitLab / Bitbucket — branch protection + CODEOWNERS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947672"/>
            <a:ext cx="4026103" cy="566928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1993391"/>
            <a:ext cx="37517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same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42032"/>
            <a:ext cx="1892808" cy="566928"/>
          </a:xfrm>
          <a:prstGeom prst="rect">
            <a:avLst/>
          </a:prstGeom>
          <a:solidFill>
            <a:srgbClr val="E2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587751"/>
            <a:ext cx="1618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293C"/>
                </a:solidFill>
                <a:latin typeface="Arial"/>
              </a:rPr>
              <a:t>CI (build &amp; test)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542032"/>
            <a:ext cx="5093207" cy="566928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2587751"/>
            <a:ext cx="48188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GitLab CI or GitHub Actions self-hosted runners (Jenkins OK if entrenched)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542032"/>
            <a:ext cx="4026103" cy="566928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35824" y="2587751"/>
            <a:ext cx="37517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identical — runners move to AWS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36391"/>
            <a:ext cx="1892808" cy="566928"/>
          </a:xfrm>
          <a:prstGeom prst="rect">
            <a:avLst/>
          </a:prstGeom>
          <a:solidFill>
            <a:srgbClr val="E2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182111"/>
            <a:ext cx="1618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293C"/>
                </a:solidFill>
                <a:latin typeface="Arial"/>
              </a:rPr>
              <a:t>Artifacts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3136391"/>
            <a:ext cx="5093207" cy="566928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15184" y="3182111"/>
            <a:ext cx="48188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JFrog Artifactory (or Nexus) — tarballs now; Docker images &amp; Helm charts later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3136391"/>
            <a:ext cx="4026103" cy="566928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35824" y="3182111"/>
            <a:ext cx="37517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same instance or SaaS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30752"/>
            <a:ext cx="1892808" cy="566928"/>
          </a:xfrm>
          <a:prstGeom prst="rect">
            <a:avLst/>
          </a:prstGeom>
          <a:solidFill>
            <a:srgbClr val="E2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3776472"/>
            <a:ext cx="1618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293C"/>
                </a:solidFill>
                <a:latin typeface="Arial"/>
              </a:rPr>
              <a:t>Secrets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3730752"/>
            <a:ext cx="5093207" cy="566928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15184" y="3776472"/>
            <a:ext cx="48188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HashiCorp Vault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3730752"/>
            <a:ext cx="4026103" cy="566928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35824" y="3776472"/>
            <a:ext cx="37517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AWS Secrets Manager (or keep Vault)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25112"/>
            <a:ext cx="1892808" cy="566928"/>
          </a:xfrm>
          <a:prstGeom prst="rect">
            <a:avLst/>
          </a:prstGeom>
          <a:solidFill>
            <a:srgbClr val="E2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4370832"/>
            <a:ext cx="1618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293C"/>
                </a:solidFill>
                <a:latin typeface="Arial"/>
              </a:rPr>
              <a:t>CD executor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4325112"/>
            <a:ext cx="5093207" cy="566928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5184" y="4370832"/>
            <a:ext cx="48188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Ansible / Jenkins deploy jobs, driven by manifest merges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4325112"/>
            <a:ext cx="4026103" cy="566928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35824" y="4370832"/>
            <a:ext cx="37517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EC2: CodeDeploy · EKS: Argo CD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919472"/>
            <a:ext cx="1892808" cy="566928"/>
          </a:xfrm>
          <a:prstGeom prst="rect">
            <a:avLst/>
          </a:prstGeom>
          <a:solidFill>
            <a:srgbClr val="E2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4965192"/>
            <a:ext cx="1618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6293C"/>
                </a:solidFill>
                <a:latin typeface="Arial"/>
              </a:rPr>
              <a:t>Deploy state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4919472"/>
            <a:ext cx="5093207" cy="566928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15184" y="4965192"/>
            <a:ext cx="48188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platform-config repo, deploy/ directory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4919472"/>
            <a:ext cx="4026103" cy="566928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35824" y="4965192"/>
            <a:ext cx="3751783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same repo — becomes Argo CD’s source of truth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806440"/>
            <a:ext cx="11094415" cy="658368"/>
          </a:xfrm>
          <a:prstGeom prst="roundRect">
            <a:avLst>
              <a:gd name="adj" fmla="val 1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9808" y="5943600"/>
            <a:ext cx="384048" cy="384048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00" y="6047292"/>
            <a:ext cx="176662" cy="17666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25880" y="5852159"/>
            <a:ext cx="1008857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A8F82"/>
                </a:solidFill>
                <a:latin typeface="Arial"/>
              </a:rPr>
              <a:t>Only the executor row changes across the cloud migration </a:t>
            </a:r>
            <a:r>
              <a:rPr sz="1300" b="0" i="1">
                <a:solidFill>
                  <a:srgbClr val="16293C"/>
                </a:solidFill>
                <a:latin typeface="Arial"/>
              </a:rPr>
              <a:t>— pipelines, artifacts, config, and process carry over unchanged.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A8F82"/>
                </a:solidFill>
                <a:latin typeface="Arial"/>
              </a:rPr>
              <a:t>PATH TO THE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6293C"/>
                </a:solidFill>
                <a:latin typeface="Arial"/>
              </a:rPr>
              <a:t>Tarball → containers: the tarball isn’t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4313D"/>
                </a:solidFill>
                <a:latin typeface="Arial"/>
              </a:rPr>
              <a:t>Config inside the tarball is the problem. Fix that first, and a Docker image is just a tarball with better tooling.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863" y="1920240"/>
            <a:ext cx="2670048" cy="2286000"/>
          </a:xfrm>
          <a:prstGeom prst="roundRect">
            <a:avLst>
              <a:gd name="adj" fmla="val 7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3455" y="2084832"/>
            <a:ext cx="777240" cy="310896"/>
          </a:xfrm>
          <a:prstGeom prst="roundRect">
            <a:avLst>
              <a:gd name="adj" fmla="val 25000"/>
            </a:avLst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3455" y="2066544"/>
            <a:ext cx="777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00">
                <a:solidFill>
                  <a:srgbClr val="FFFFFF"/>
                </a:solidFill>
                <a:latin typeface="Arial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2523744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6293C"/>
                </a:solidFill>
                <a:latin typeface="Arial"/>
              </a:rPr>
              <a:t>Strip config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455" y="2926080"/>
            <a:ext cx="234086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Tarball = code only; config rendered at deploy from platform-config. Process change, no new infra.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88055" y="3063240"/>
            <a:ext cx="146304" cy="0"/>
          </a:xfrm>
          <a:prstGeom prst="line">
            <a:avLst/>
          </a:prstGeom>
          <a:ln w="25400">
            <a:solidFill>
              <a:srgbClr val="5C6B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43503" y="1920240"/>
            <a:ext cx="2670048" cy="2286000"/>
          </a:xfrm>
          <a:prstGeom prst="roundRect">
            <a:avLst>
              <a:gd name="adj" fmla="val 7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08095" y="2084832"/>
            <a:ext cx="777240" cy="310896"/>
          </a:xfrm>
          <a:prstGeom prst="roundRect">
            <a:avLst>
              <a:gd name="adj" fmla="val 25000"/>
            </a:avLst>
          </a:prstGeom>
          <a:solidFill>
            <a:srgbClr val="162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8095" y="2066544"/>
            <a:ext cx="777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00">
                <a:solidFill>
                  <a:srgbClr val="FFFFFF"/>
                </a:solidFill>
                <a:latin typeface="Arial"/>
              </a:rPr>
              <a:t>NOW+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8095" y="2523744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6293C"/>
                </a:solidFill>
                <a:latin typeface="Arial"/>
              </a:rPr>
              <a:t>Build images in parallel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8095" y="2926080"/>
            <a:ext cx="234086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CI also builds a Docker image from the same jars (Jib / Boot buildpacks — no Dockerfile). Nobody deploys it yet.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22695" y="3063240"/>
            <a:ext cx="146304" cy="0"/>
          </a:xfrm>
          <a:prstGeom prst="line">
            <a:avLst/>
          </a:prstGeom>
          <a:ln w="25400">
            <a:solidFill>
              <a:srgbClr val="5C6B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8143" y="1920240"/>
            <a:ext cx="2670048" cy="2286000"/>
          </a:xfrm>
          <a:prstGeom prst="roundRect">
            <a:avLst>
              <a:gd name="adj" fmla="val 7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2735" y="2084832"/>
            <a:ext cx="777240" cy="310896"/>
          </a:xfrm>
          <a:prstGeom prst="roundRect">
            <a:avLst>
              <a:gd name="adj" fmla="val 25000"/>
            </a:avLst>
          </a:prstGeom>
          <a:solidFill>
            <a:srgbClr val="0B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2735" y="2066544"/>
            <a:ext cx="777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00">
                <a:solidFill>
                  <a:srgbClr val="FFFFFF"/>
                </a:solidFill>
                <a:latin typeface="Arial"/>
              </a:rPr>
              <a:t>EC2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2735" y="2523744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6293C"/>
                </a:solidFill>
                <a:latin typeface="Arial"/>
              </a:rPr>
              <a:t>Deploy the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735" y="2926080"/>
            <a:ext cx="234086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compose/systemd on EC2; config mounted from rendered files / SSM.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57335" y="3063240"/>
            <a:ext cx="146304" cy="0"/>
          </a:xfrm>
          <a:prstGeom prst="line">
            <a:avLst/>
          </a:prstGeom>
          <a:ln w="25400">
            <a:solidFill>
              <a:srgbClr val="5C6B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12783" y="1920240"/>
            <a:ext cx="2670048" cy="2286000"/>
          </a:xfrm>
          <a:prstGeom prst="roundRect">
            <a:avLst>
              <a:gd name="adj" fmla="val 7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77375" y="2084832"/>
            <a:ext cx="777240" cy="310896"/>
          </a:xfrm>
          <a:prstGeom prst="roundRect">
            <a:avLst>
              <a:gd name="adj" fmla="val 25000"/>
            </a:avLst>
          </a:prstGeom>
          <a:solidFill>
            <a:srgbClr val="0B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7375" y="2066544"/>
            <a:ext cx="777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100">
                <a:solidFill>
                  <a:srgbClr val="FFFFFF"/>
                </a:solidFill>
                <a:latin typeface="Arial"/>
              </a:rPr>
              <a:t>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7375" y="2523744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6293C"/>
                </a:solidFill>
                <a:latin typeface="Arial"/>
              </a:rPr>
              <a:t>Same process, new executor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375" y="2926080"/>
            <a:ext cx="234086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4313D"/>
                </a:solidFill>
                <a:latin typeface="Arial"/>
              </a:rPr>
              <a:t>Overlays → Kustomize/ConfigMaps 1:1; deploy/ → Argo CD apps; External Secrets → Vault/ASM.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09160"/>
            <a:ext cx="11094415" cy="868680"/>
          </a:xfrm>
          <a:prstGeom prst="roundRect">
            <a:avLst>
              <a:gd name="adj" fmla="val 1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9808" y="4951476"/>
            <a:ext cx="384048" cy="384048"/>
          </a:xfrm>
          <a:prstGeom prst="ellipse">
            <a:avLst/>
          </a:prstGeom>
          <a:solidFill>
            <a:srgbClr val="0A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00" y="5055168"/>
            <a:ext cx="176662" cy="1766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25880" y="4754880"/>
            <a:ext cx="1008857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0A8F82"/>
                </a:solidFill>
                <a:latin typeface="Arial"/>
              </a:rPr>
              <a:t>Invariant at every step:  </a:t>
            </a:r>
            <a:r>
              <a:rPr sz="1350" b="0" i="1">
                <a:solidFill>
                  <a:srgbClr val="16293C"/>
                </a:solidFill>
                <a:latin typeface="Arial"/>
              </a:rPr>
              <a:t>image = code only · config injected at deploy · promotion = retag / manifest edit — never rebuild for an environment.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C6B79"/>
                </a:solidFill>
                <a:latin typeface="Arial"/>
              </a:rPr>
              <a:t>Bonus at EKS: ephemeral per-feature environments (slide 9) become nearly free — namespace per branch, Argo CD ApplicationSet, TTL teardown.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02C39A"/>
                </a:solidFill>
                <a:latin typeface="Arial"/>
              </a:rPr>
              <a:t>PROPOSED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Migration order — each step pays off on its own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81328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6293C"/>
                </a:solidFill>
                <a:latin typeface="Arial"/>
              </a:rP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1993392"/>
            <a:ext cx="0" cy="329184"/>
          </a:xfrm>
          <a:prstGeom prst="line">
            <a:avLst/>
          </a:prstGeom>
          <a:ln w="19050">
            <a:solidFill>
              <a:srgbClr val="02C39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61872" y="143560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Extract config   </a:t>
            </a:r>
            <a:r>
              <a:rPr sz="1150" b="0" i="0">
                <a:solidFill>
                  <a:srgbClr val="C9DCEF"/>
                </a:solidFill>
                <a:latin typeface="Arial"/>
              </a:rPr>
              <a:t>Move config out of the Java repo into platform-config (trunk-only, layered dirs). Delete config from tarballs; render at deploy. Kills most cherry-picking by itself.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40864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22576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6293C"/>
                </a:solidFill>
                <a:latin typeface="Arial"/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" y="2852928"/>
            <a:ext cx="0" cy="329184"/>
          </a:xfrm>
          <a:prstGeom prst="line">
            <a:avLst/>
          </a:prstGeom>
          <a:ln w="19050">
            <a:solidFill>
              <a:srgbClr val="02C39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61872" y="2295144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Immutable artifacts + trunk   </a:t>
            </a:r>
            <a:r>
              <a:rPr sz="1150" b="0" i="0">
                <a:solidFill>
                  <a:srgbClr val="C9DCEF"/>
                </a:solidFill>
                <a:latin typeface="Arial"/>
              </a:rPr>
              <a:t>Artifactory promotion, versioned tarballs. Kill environment branches; adopt trunk + release trains (long stabilization while QA is manual).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00400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82112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6293C"/>
                </a:solidFill>
                <a:latin typeface="Arial"/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" y="3712464"/>
            <a:ext cx="0" cy="329184"/>
          </a:xfrm>
          <a:prstGeom prst="line">
            <a:avLst/>
          </a:prstGeom>
          <a:ln w="19050">
            <a:solidFill>
              <a:srgbClr val="02C39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61872" y="315468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Release manifests   </a:t>
            </a:r>
            <a:r>
              <a:rPr sz="1150" b="0" i="0">
                <a:solidFill>
                  <a:srgbClr val="C9DCEF"/>
                </a:solidFill>
                <a:latin typeface="Arial"/>
              </a:rPr>
              <a:t>Add deploy/ manifests; Ansible/Jenkins deploys only what manifests declare. Rollback = git revert. Throwaway dev-N integration branches for back-out.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059935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41648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6293C"/>
                </a:solidFill>
                <a:latin typeface="Arial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" y="4572000"/>
            <a:ext cx="0" cy="329183"/>
          </a:xfrm>
          <a:prstGeom prst="line">
            <a:avLst/>
          </a:prstGeom>
          <a:ln w="19050">
            <a:solidFill>
              <a:srgbClr val="02C39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61872" y="4014215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Images in parallel   </a:t>
            </a:r>
            <a:r>
              <a:rPr sz="1150" b="0" i="0">
                <a:solidFill>
                  <a:srgbClr val="C9DCEF"/>
                </a:solidFill>
                <a:latin typeface="Arial"/>
              </a:rPr>
              <a:t>CI builds Jib images from the same jars alongside tarballs — unused in prod, zero risk.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919472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01184"/>
            <a:ext cx="4754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6293C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873752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AWS   </a:t>
            </a:r>
            <a:r>
              <a:rPr sz="1150" b="0" i="0">
                <a:solidFill>
                  <a:srgbClr val="C9DCEF"/>
                </a:solidFill>
                <a:latin typeface="Arial"/>
              </a:rPr>
              <a:t>EC2 first with the same manifests, then EKS + Argo CD + Kustomize — same config repo, same process, new executor. Ephemeral envs become cheap.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481328"/>
            <a:ext cx="2743200" cy="3429000"/>
          </a:xfrm>
          <a:prstGeom prst="roundRect">
            <a:avLst>
              <a:gd name="adj" fmla="val 6000"/>
            </a:avLst>
          </a:prstGeom>
          <a:solidFill>
            <a:srgbClr val="203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1700784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02C39A"/>
                </a:solidFill>
                <a:latin typeface="Arial"/>
              </a:rPr>
              <a:t>FOR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066543"/>
            <a:ext cx="234086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2C39A"/>
                </a:solidFill>
                <a:latin typeface="Arial"/>
              </a:rPr>
              <a:t>•  </a:t>
            </a:r>
            <a:r>
              <a:rPr sz="1150" b="0" i="0">
                <a:solidFill>
                  <a:srgbClr val="C9DCEF"/>
                </a:solidFill>
                <a:latin typeface="Arial"/>
              </a:rPr>
              <a:t>Train cadence per desk — weekly? monthly?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688336"/>
            <a:ext cx="234086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2C39A"/>
                </a:solidFill>
                <a:latin typeface="Arial"/>
              </a:rPr>
              <a:t>•  </a:t>
            </a:r>
            <a:r>
              <a:rPr sz="1150" b="0" i="0">
                <a:solidFill>
                  <a:srgbClr val="C9DCEF"/>
                </a:solidFill>
                <a:latin typeface="Arial"/>
              </a:rPr>
              <a:t>Who approves overlays/prod/** and deploy/** PRs?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3310128"/>
            <a:ext cx="234086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2C39A"/>
                </a:solidFill>
                <a:latin typeface="Arial"/>
              </a:rPr>
              <a:t>•  </a:t>
            </a:r>
            <a:r>
              <a:rPr sz="1150" b="0" i="0">
                <a:solidFill>
                  <a:srgbClr val="C9DCEF"/>
                </a:solidFill>
                <a:latin typeface="Arial"/>
              </a:rPr>
              <a:t>First candidate service for step 1?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3931920"/>
            <a:ext cx="234086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2C39A"/>
                </a:solidFill>
                <a:latin typeface="Arial"/>
              </a:rPr>
              <a:t>•  </a:t>
            </a:r>
            <a:r>
              <a:rPr sz="1150" b="0" i="0">
                <a:solidFill>
                  <a:srgbClr val="C9DCEF"/>
                </a:solidFill>
                <a:latin typeface="Arial"/>
              </a:rPr>
              <a:t>Where do we start writing the first automated tests?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8FA8BF"/>
                </a:solidFill>
                <a:latin typeface="Arial"/>
              </a:rPr>
              <a:t>Full detail: release-management-architecture.md in the ci-cd-design vault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